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" pitchFamily="2" charset="0"/>
      <p:regular r:id="rId12"/>
    </p:embeddedFont>
    <p:embeddedFont>
      <p:font typeface="Space Grotesk Medium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1662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152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63984" y="786765"/>
            <a:ext cx="1767126" cy="264795"/>
          </a:xfrm>
          <a:prstGeom prst="roundRect">
            <a:avLst>
              <a:gd name="adj" fmla="val 7272"/>
            </a:avLst>
          </a:prstGeom>
          <a:noFill/>
          <a:ln w="7620">
            <a:solidFill>
              <a:srgbClr val="1717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167807" y="842486"/>
            <a:ext cx="1559481" cy="15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17171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SYNOPTIC METEOROLOGY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8063984" y="1179195"/>
            <a:ext cx="5817632" cy="191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 a North Atlantic–European Cyclone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063984" y="1541264"/>
            <a:ext cx="5817632" cy="5776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50"/>
              </a:lnSpc>
              <a:buNone/>
            </a:pPr>
            <a:r>
              <a:rPr lang="en-US" sz="63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Synoptic Analysis of a North Atlantic–European Cyclone</a:t>
            </a:r>
            <a:endParaRPr lang="en-US" sz="6300" dirty="0"/>
          </a:p>
        </p:txBody>
      </p:sp>
      <p:sp>
        <p:nvSpPr>
          <p:cNvPr id="7" name="Shape 4"/>
          <p:cNvSpPr/>
          <p:nvPr/>
        </p:nvSpPr>
        <p:spPr>
          <a:xfrm>
            <a:off x="8041124" y="7465100"/>
            <a:ext cx="45720" cy="199073"/>
          </a:xfrm>
          <a:prstGeom prst="rect">
            <a:avLst/>
          </a:prstGeom>
          <a:solidFill>
            <a:srgbClr val="171717"/>
          </a:solidFill>
          <a:ln/>
        </p:spPr>
      </p:sp>
      <p:sp>
        <p:nvSpPr>
          <p:cNvPr id="8" name="Text 5"/>
          <p:cNvSpPr/>
          <p:nvPr/>
        </p:nvSpPr>
        <p:spPr>
          <a:xfrm>
            <a:off x="8270081" y="7487960"/>
            <a:ext cx="2631758" cy="15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Sasi Varun Ramachandran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1020782" y="7465100"/>
            <a:ext cx="45720" cy="199073"/>
          </a:xfrm>
          <a:prstGeom prst="rect">
            <a:avLst/>
          </a:prstGeom>
          <a:solidFill>
            <a:srgbClr val="4A5F73"/>
          </a:solidFill>
          <a:ln/>
        </p:spPr>
      </p:sp>
      <p:sp>
        <p:nvSpPr>
          <p:cNvPr id="10" name="Text 7"/>
          <p:cNvSpPr/>
          <p:nvPr/>
        </p:nvSpPr>
        <p:spPr>
          <a:xfrm>
            <a:off x="11249739" y="7487960"/>
            <a:ext cx="2631877" cy="153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Software Development · 26.02.2026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056680"/>
            <a:ext cx="1570077" cy="389930"/>
          </a:xfrm>
          <a:prstGeom prst="roundRect">
            <a:avLst>
              <a:gd name="adj" fmla="val 6981"/>
            </a:avLst>
          </a:prstGeom>
          <a:solidFill>
            <a:srgbClr val="E6E6E6"/>
          </a:solidFill>
          <a:ln/>
        </p:spPr>
      </p:sp>
      <p:sp>
        <p:nvSpPr>
          <p:cNvPr id="4" name="Text 1"/>
          <p:cNvSpPr/>
          <p:nvPr/>
        </p:nvSpPr>
        <p:spPr>
          <a:xfrm>
            <a:off x="929878" y="1124664"/>
            <a:ext cx="1297900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537335"/>
            <a:ext cx="5670590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Case Overview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2308503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Analysis Time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298882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February 2026 – 12:00 UTC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3646527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Region of Interest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4326850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North Atlantic &amp; Europe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4984552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Data Sources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93790" y="5664875"/>
            <a:ext cx="7556421" cy="1508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DWD Surface Analysis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Radar Observations (DWD / KNMI)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EUMETSAT Water Vapour Satellite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Model Visualized in Met.3D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14" y="970240"/>
            <a:ext cx="5681901" cy="42481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562017" y="970240"/>
            <a:ext cx="1622227" cy="322421"/>
          </a:xfrm>
          <a:prstGeom prst="roundRect">
            <a:avLst>
              <a:gd name="adj" fmla="val 7301"/>
            </a:avLst>
          </a:prstGeom>
          <a:solidFill>
            <a:srgbClr val="E6E6E6"/>
          </a:solidFill>
          <a:ln/>
        </p:spPr>
      </p:sp>
      <p:sp>
        <p:nvSpPr>
          <p:cNvPr id="4" name="Text 1"/>
          <p:cNvSpPr/>
          <p:nvPr/>
        </p:nvSpPr>
        <p:spPr>
          <a:xfrm>
            <a:off x="7679650" y="1029057"/>
            <a:ext cx="1386959" cy="204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 ANALYSIS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562017" y="1360408"/>
            <a:ext cx="6313289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8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Synoptic Situation at the Surface</a:t>
            </a:r>
            <a:endParaRPr lang="en-US" sz="3850" dirty="0"/>
          </a:p>
        </p:txBody>
      </p:sp>
      <p:sp>
        <p:nvSpPr>
          <p:cNvPr id="6" name="Shape 3"/>
          <p:cNvSpPr/>
          <p:nvPr/>
        </p:nvSpPr>
        <p:spPr>
          <a:xfrm>
            <a:off x="7562017" y="2727960"/>
            <a:ext cx="3071813" cy="2180868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80973" y="2946916"/>
            <a:ext cx="2451854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Deep Atlantic Low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80973" y="3410545"/>
            <a:ext cx="2633901" cy="1279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~975 hPa low-pressure center located west of Europe, indicating a mature and intense cyclone at the synoptic scale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0803374" y="2727960"/>
            <a:ext cx="3071932" cy="2180868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22330" y="2946916"/>
            <a:ext cx="2451854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Frontal System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1022330" y="3410545"/>
            <a:ext cx="2634020" cy="1279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Well-developed frontal system present, with a cold front extending southeastward from the low-pressure center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562017" y="5078373"/>
            <a:ext cx="3071813" cy="2180868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80973" y="5297329"/>
            <a:ext cx="2451854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Pressure Gradient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780973" y="5760958"/>
            <a:ext cx="2633901" cy="1279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pressure gradient around the cyclone, with a secondary weaker low identifiable over Central Europe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803374" y="5078373"/>
            <a:ext cx="3071932" cy="2180868"/>
          </a:xfrm>
          <a:prstGeom prst="roundRect">
            <a:avLst>
              <a:gd name="adj" fmla="val 1349"/>
            </a:avLst>
          </a:prstGeom>
          <a:solidFill>
            <a:srgbClr val="FFFFFF"/>
          </a:solidFill>
          <a:ln w="22860">
            <a:solidFill>
              <a:srgbClr val="B5B5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22330" y="5297329"/>
            <a:ext cx="2451854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9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High-Pressure Ridge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1022330" y="5760958"/>
            <a:ext cx="2634020" cy="12793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5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high-pressure ridge over Eastern Europe contrasts with the active low-pressure system dominating the western domain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92110"/>
            <a:ext cx="787718" cy="246340"/>
          </a:xfrm>
          <a:prstGeom prst="roundRect">
            <a:avLst>
              <a:gd name="adj" fmla="val 7735"/>
            </a:avLst>
          </a:prstGeom>
          <a:solidFill>
            <a:srgbClr val="E6E6E6"/>
          </a:solidFill>
          <a:ln/>
        </p:spPr>
      </p:sp>
      <p:sp>
        <p:nvSpPr>
          <p:cNvPr id="3" name="Text 1"/>
          <p:cNvSpPr/>
          <p:nvPr/>
        </p:nvSpPr>
        <p:spPr>
          <a:xfrm>
            <a:off x="889040" y="739735"/>
            <a:ext cx="597218" cy="151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SATELLITE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93790" y="982861"/>
            <a:ext cx="8523208" cy="476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1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Satellite Analysis – 06 February 2026, 12 UTC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750814"/>
            <a:ext cx="4429363" cy="276832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4644152"/>
            <a:ext cx="4429363" cy="276832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02116" y="1625798"/>
            <a:ext cx="6556415" cy="5911691"/>
          </a:xfrm>
          <a:prstGeom prst="roundRect">
            <a:avLst>
              <a:gd name="adj" fmla="val 403"/>
            </a:avLst>
          </a:prstGeom>
          <a:solidFill>
            <a:srgbClr val="4A5F73"/>
          </a:solidFill>
          <a:ln/>
        </p:spPr>
      </p:sp>
      <p:sp>
        <p:nvSpPr>
          <p:cNvPr id="8" name="Text 4"/>
          <p:cNvSpPr/>
          <p:nvPr/>
        </p:nvSpPr>
        <p:spPr>
          <a:xfrm>
            <a:off x="7560826" y="3398996"/>
            <a:ext cx="2112764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Water Vapour Imagery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7560826" y="3748207"/>
            <a:ext cx="6238994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satellite image at 12 UTC shows a well-developed spiral cloud structure over the North Atlantic, confirming the mature stage of the cyclone.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7560826" y="4237196"/>
            <a:ext cx="1984653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Features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7560826" y="4586407"/>
            <a:ext cx="6238994" cy="1250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Pronounced cloud band extending southeastward along the frontal zone</a:t>
            </a:r>
            <a:endParaRPr lang="en-US" sz="12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Contrast between bright and darker regions reflects differences in moisture content</a:t>
            </a:r>
            <a:endParaRPr lang="en-US" sz="12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Dry intrusion wrapping in from the southwest — characteristic of dynamically active mid-latitude cyclones</a:t>
            </a:r>
            <a:endParaRPr lang="en-US" sz="12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interaction between upper-level and surface processes confirmed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8055" y="499824"/>
            <a:ext cx="433864" cy="168712"/>
          </a:xfrm>
          <a:prstGeom prst="roundRect">
            <a:avLst>
              <a:gd name="adj" fmla="val 8297"/>
            </a:avLst>
          </a:prstGeom>
          <a:solidFill>
            <a:srgbClr val="E6E6E6"/>
          </a:solidFill>
          <a:ln/>
        </p:spPr>
      </p:sp>
      <p:sp>
        <p:nvSpPr>
          <p:cNvPr id="3" name="Text 1"/>
          <p:cNvSpPr/>
          <p:nvPr/>
        </p:nvSpPr>
        <p:spPr>
          <a:xfrm>
            <a:off x="697944" y="534710"/>
            <a:ext cx="294084" cy="98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0"/>
              </a:lnSpc>
              <a:buNone/>
            </a:pPr>
            <a:r>
              <a:rPr lang="en-US" sz="7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RADAR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28055" y="692467"/>
            <a:ext cx="7375446" cy="349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Radar Observations – Frontal Precipitation Structure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5" y="1199555"/>
            <a:ext cx="3654504" cy="319766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5" y="4464606"/>
            <a:ext cx="3197662" cy="319766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381042" y="1132165"/>
            <a:ext cx="6712982" cy="6597491"/>
          </a:xfrm>
          <a:prstGeom prst="roundRect">
            <a:avLst>
              <a:gd name="adj" fmla="val 265"/>
            </a:avLst>
          </a:prstGeom>
          <a:solidFill>
            <a:srgbClr val="4A5F73"/>
          </a:solidFill>
          <a:ln/>
        </p:spPr>
      </p:sp>
      <p:sp>
        <p:nvSpPr>
          <p:cNvPr id="8" name="Text 4"/>
          <p:cNvSpPr/>
          <p:nvPr/>
        </p:nvSpPr>
        <p:spPr>
          <a:xfrm>
            <a:off x="7497604" y="3783330"/>
            <a:ext cx="202834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Precipitation Band Structure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497604" y="4018240"/>
            <a:ext cx="6479858" cy="247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Radar observations at 12 UTC reveal a well-defined precipitation band aligned SW–NE across parts of Western and Central Europe, corresponding to the cold frontal zone.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497604" y="4325303"/>
            <a:ext cx="145803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Observations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7497604" y="4560213"/>
            <a:ext cx="6479858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Strongest reflectivity values concentrated along the frontal boundary</a:t>
            </a:r>
            <a:endParaRPr lang="en-US" sz="9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Embedded areas of higher intensity suggest locally stronger convective elements</a:t>
            </a:r>
            <a:endParaRPr lang="en-US" sz="9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Precipitation primarily organized along the frontal zone</a:t>
            </a:r>
            <a:endParaRPr lang="en-US" sz="900" dirty="0"/>
          </a:p>
          <a:p>
            <a:pPr marL="342900" indent="-342900" algn="l">
              <a:lnSpc>
                <a:spcPts val="95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with both surface analysis and satellite frontal position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87348"/>
            <a:ext cx="882253" cy="389930"/>
          </a:xfrm>
          <a:prstGeom prst="roundRect">
            <a:avLst>
              <a:gd name="adj" fmla="val 6981"/>
            </a:avLst>
          </a:prstGeom>
          <a:solidFill>
            <a:srgbClr val="E6E6E6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55333"/>
            <a:ext cx="610076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MET.3D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168003"/>
            <a:ext cx="9258776" cy="680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4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Met.3D – Mean Sea Level Pressure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6702981"/>
            <a:ext cx="82841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Met.3D visualization reproduces the main synoptic features observed in the DWD surface analysis with good agreement in position and intensity.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9638943" y="2948940"/>
            <a:ext cx="2835235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2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 Fidelity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38943" y="3515916"/>
            <a:ext cx="4205168" cy="3413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Atlantic low clearly represented at similar position and intensity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Pressure gradient well defined, especially south of the low center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Tightly packed isobars indicate strong surface winds</a:t>
            </a:r>
            <a:endParaRPr lang="en-US" sz="17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7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Frontal structure inferred from pressure field consistent with observational analysis</a:t>
            </a:r>
            <a:endParaRPr lang="en-US" sz="17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1136C7-3E8B-C7CE-26DD-E94162CE4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789" y="2662334"/>
            <a:ext cx="8366643" cy="36178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093" y="1613416"/>
            <a:ext cx="619244" cy="247174"/>
          </a:xfrm>
          <a:prstGeom prst="roundRect">
            <a:avLst>
              <a:gd name="adj" fmla="val 7728"/>
            </a:avLst>
          </a:prstGeom>
          <a:solidFill>
            <a:srgbClr val="E6E6E6"/>
          </a:solidFill>
          <a:ln/>
        </p:spPr>
      </p:sp>
      <p:sp>
        <p:nvSpPr>
          <p:cNvPr id="3" name="Text 1"/>
          <p:cNvSpPr/>
          <p:nvPr/>
        </p:nvSpPr>
        <p:spPr>
          <a:xfrm>
            <a:off x="652582" y="1661160"/>
            <a:ext cx="428268" cy="151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100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MET.3D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7093" y="1905238"/>
            <a:ext cx="8278892" cy="477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1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Met.3D – Surface Wind Field &amp; Precipitation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517011" y="2675811"/>
            <a:ext cx="3226118" cy="1851541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98938" y="2857738"/>
            <a:ext cx="198965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Wind Distribution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698938" y="3208139"/>
            <a:ext cx="2862262" cy="947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Strongest winds south and southwest of the cyclone center, where the pressure gradient is most pronounced. Wind field follows isobars with clear cyclonic circulation.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854809" y="2675811"/>
            <a:ext cx="3226118" cy="1851541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036737" y="2857738"/>
            <a:ext cx="234350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Geostrophic Adjustment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1036737" y="3208139"/>
            <a:ext cx="286226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 with geostrophic theory — tighter pressure gradients produce stronger winds, confirming the physical relationship between pressure gradient and surface wind intensity.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17011" y="4639032"/>
            <a:ext cx="3226118" cy="1851541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98938" y="4820960"/>
            <a:ext cx="222182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Precipitation Structure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698938" y="5171361"/>
            <a:ext cx="2862262" cy="758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Well-defined frontal precipitation band associated with the Atlantic cyclone. Strongest areas coincide with regions of enhanced frontal lifting.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0854809" y="4639032"/>
            <a:ext cx="3226118" cy="1851541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22860">
            <a:solidFill>
              <a:srgbClr val="B5B5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036737" y="4820960"/>
            <a:ext cx="221503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5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 vs. Observations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1036737" y="5171361"/>
            <a:ext cx="2862262" cy="1137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2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reproduces the overall structure and position of the precipitation band well. Minor differences in small-scale intensity expected due to model resolution effects.</a:t>
            </a:r>
            <a:endParaRPr lang="en-US" sz="12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BE372B-5949-E840-EEB8-33EF11DD6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3019286"/>
            <a:ext cx="6867525" cy="35968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548920" y="956667"/>
            <a:ext cx="1072277" cy="299918"/>
          </a:xfrm>
          <a:prstGeom prst="roundRect">
            <a:avLst>
              <a:gd name="adj" fmla="val 7419"/>
            </a:avLst>
          </a:prstGeom>
          <a:solidFill>
            <a:srgbClr val="E6E6E6"/>
          </a:solidFill>
          <a:ln/>
        </p:spPr>
      </p:sp>
      <p:sp>
        <p:nvSpPr>
          <p:cNvPr id="4" name="Text 1"/>
          <p:cNvSpPr/>
          <p:nvPr/>
        </p:nvSpPr>
        <p:spPr>
          <a:xfrm>
            <a:off x="7660124" y="1012269"/>
            <a:ext cx="849868" cy="188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DISCUSSION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548920" y="1317188"/>
            <a:ext cx="6325672" cy="1112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6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Discussion &amp; Model Evaluation</a:t>
            </a:r>
            <a:endParaRPr lang="en-US" sz="3650" dirty="0"/>
          </a:p>
        </p:txBody>
      </p:sp>
      <p:sp>
        <p:nvSpPr>
          <p:cNvPr id="6" name="Shape 3"/>
          <p:cNvSpPr/>
          <p:nvPr/>
        </p:nvSpPr>
        <p:spPr>
          <a:xfrm>
            <a:off x="7548920" y="2599968"/>
            <a:ext cx="3087053" cy="226064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57160" y="2808208"/>
            <a:ext cx="2579489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Observations vs. Model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57160" y="3237905"/>
            <a:ext cx="267057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consistency between DWD surface analysis, EUMETSAT satellite imagery, KNMI/DWD radar, and ICON model output across all analysed fields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10787539" y="2599968"/>
            <a:ext cx="3087053" cy="226064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995779" y="2808208"/>
            <a:ext cx="231767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Satellite Insight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95779" y="3237905"/>
            <a:ext cx="2670572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Dry intrusion and spiral cloud structure confirm dynamically active cyclone stage, supporting the surface-based frontal analysis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7548920" y="5012174"/>
            <a:ext cx="3087053" cy="226064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57160" y="5220414"/>
            <a:ext cx="231767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Radar Confirmation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757160" y="5650111"/>
            <a:ext cx="2670572" cy="1178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Frontal precipitation band structure in radar aligns well with model-predicted precipitation, validating ICON's frontal positioning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0787539" y="5012174"/>
            <a:ext cx="3087053" cy="2260640"/>
          </a:xfrm>
          <a:prstGeom prst="roundRect">
            <a:avLst>
              <a:gd name="adj" fmla="val 1230"/>
            </a:avLst>
          </a:prstGeom>
          <a:solidFill>
            <a:srgbClr val="FFFFFF"/>
          </a:solidFill>
          <a:ln w="22860">
            <a:solidFill>
              <a:srgbClr val="B5B5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995779" y="5220414"/>
            <a:ext cx="2317671" cy="278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 Limitations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0995779" y="5650111"/>
            <a:ext cx="267057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Minor discrepancies in small-scale precipitation intensity are attributable to parameterization effects and resolution constraints inherent to the ICON model</a:t>
            </a:r>
            <a:endParaRPr lang="en-US" sz="14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A148C30-208F-32A7-EDBE-3984F03D2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675" y="2344325"/>
            <a:ext cx="6540103" cy="36541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9620" y="639604"/>
            <a:ext cx="1170027" cy="302776"/>
          </a:xfrm>
          <a:prstGeom prst="roundRect">
            <a:avLst>
              <a:gd name="adj" fmla="val 7408"/>
            </a:avLst>
          </a:prstGeom>
          <a:solidFill>
            <a:srgbClr val="E6E6E6"/>
          </a:solidFill>
          <a:ln/>
        </p:spPr>
      </p:sp>
      <p:sp>
        <p:nvSpPr>
          <p:cNvPr id="3" name="Text 1"/>
          <p:cNvSpPr/>
          <p:nvPr/>
        </p:nvSpPr>
        <p:spPr>
          <a:xfrm>
            <a:off x="881658" y="695563"/>
            <a:ext cx="945952" cy="190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69620" y="1003935"/>
            <a:ext cx="5370076" cy="560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6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Summary &amp; Conclusions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20" y="1795701"/>
            <a:ext cx="4363641" cy="7475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429" y="2697242"/>
            <a:ext cx="233648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Surface Analysis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56429" y="3069908"/>
            <a:ext cx="3990023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Deep North Atlantic low (~975 hPa) with tight pressure gradient and well-developed cold front identified</a:t>
            </a:r>
            <a:endParaRPr lang="en-US" sz="1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261" y="1795701"/>
            <a:ext cx="4363760" cy="7475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20070" y="2697242"/>
            <a:ext cx="233648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Satellite &amp; Radar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5320070" y="3069908"/>
            <a:ext cx="3990142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Spiral cloud structure, dry intrusion, and organized frontal precipitation band confirmed observationally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7020" y="1795701"/>
            <a:ext cx="4363641" cy="7475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83829" y="2697242"/>
            <a:ext cx="233648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2A2A2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 Validation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9683829" y="3069908"/>
            <a:ext cx="3990023" cy="38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ICON via Met.3D successfully reproduces large-scale pressure, wind, and precipitation structure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769620" y="3965615"/>
            <a:ext cx="2336483" cy="280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69620" y="4419124"/>
            <a:ext cx="9026962" cy="896541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22860">
            <a:solidFill>
              <a:srgbClr val="17171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46760" y="4419124"/>
            <a:ext cx="91440" cy="896541"/>
          </a:xfrm>
          <a:prstGeom prst="roundRect">
            <a:avLst>
              <a:gd name="adj" fmla="val 30663"/>
            </a:avLst>
          </a:prstGeom>
          <a:solidFill>
            <a:srgbClr val="171717"/>
          </a:solidFill>
          <a:ln/>
        </p:spPr>
      </p:sp>
      <p:sp>
        <p:nvSpPr>
          <p:cNvPr id="17" name="Text 12"/>
          <p:cNvSpPr/>
          <p:nvPr/>
        </p:nvSpPr>
        <p:spPr>
          <a:xfrm>
            <a:off x="1047869" y="4628793"/>
            <a:ext cx="8539043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consistency between observations and ICON model representation at 12 UTC on 06 February 2026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769620" y="5469612"/>
            <a:ext cx="9026962" cy="896541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22860">
            <a:solidFill>
              <a:srgbClr val="4A5F7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6760" y="5469612"/>
            <a:ext cx="91440" cy="896541"/>
          </a:xfrm>
          <a:prstGeom prst="roundRect">
            <a:avLst>
              <a:gd name="adj" fmla="val 30663"/>
            </a:avLst>
          </a:prstGeom>
          <a:solidFill>
            <a:srgbClr val="4A5F73"/>
          </a:solidFill>
          <a:ln/>
        </p:spPr>
      </p:sp>
      <p:sp>
        <p:nvSpPr>
          <p:cNvPr id="20" name="Text 15"/>
          <p:cNvSpPr/>
          <p:nvPr/>
        </p:nvSpPr>
        <p:spPr>
          <a:xfrm>
            <a:off x="1047869" y="5679281"/>
            <a:ext cx="8539043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Satellite imagery and radar confirm the mature cyclone stage and dynamically active frontal system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769620" y="6520101"/>
            <a:ext cx="9026962" cy="896541"/>
          </a:xfrm>
          <a:prstGeom prst="roundRect">
            <a:avLst>
              <a:gd name="adj" fmla="val 12239"/>
            </a:avLst>
          </a:prstGeom>
          <a:solidFill>
            <a:srgbClr val="FFFFFF"/>
          </a:solidFill>
          <a:ln w="22860">
            <a:solidFill>
              <a:srgbClr val="2A2A2A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6760" y="6520101"/>
            <a:ext cx="91440" cy="896541"/>
          </a:xfrm>
          <a:prstGeom prst="roundRect">
            <a:avLst>
              <a:gd name="adj" fmla="val 30663"/>
            </a:avLst>
          </a:prstGeom>
          <a:solidFill>
            <a:srgbClr val="2A2A2A"/>
          </a:solidFill>
          <a:ln/>
        </p:spPr>
      </p:sp>
      <p:sp>
        <p:nvSpPr>
          <p:cNvPr id="23" name="Text 18"/>
          <p:cNvSpPr/>
          <p:nvPr/>
        </p:nvSpPr>
        <p:spPr>
          <a:xfrm>
            <a:off x="1047869" y="6729770"/>
            <a:ext cx="8539043" cy="477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Met.3D demonstrates reliable simulation of synoptic-scale features including pressure, winds, and precipitation</a:t>
            </a:r>
            <a:endParaRPr lang="en-US" sz="1450" dirty="0"/>
          </a:p>
        </p:txBody>
      </p:sp>
      <p:sp>
        <p:nvSpPr>
          <p:cNvPr id="24" name="Text 19"/>
          <p:cNvSpPr/>
          <p:nvPr/>
        </p:nvSpPr>
        <p:spPr>
          <a:xfrm>
            <a:off x="10260211" y="3950256"/>
            <a:ext cx="360807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450" dirty="0"/>
          </a:p>
        </p:txBody>
      </p:sp>
      <p:sp>
        <p:nvSpPr>
          <p:cNvPr id="25" name="Text 20"/>
          <p:cNvSpPr/>
          <p:nvPr/>
        </p:nvSpPr>
        <p:spPr>
          <a:xfrm>
            <a:off x="10260211" y="4342805"/>
            <a:ext cx="3608070" cy="773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5050" dirty="0">
                <a:solidFill>
                  <a:srgbClr val="171717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Thank You</a:t>
            </a:r>
            <a:endParaRPr lang="en-US" sz="5050" dirty="0"/>
          </a:p>
        </p:txBody>
      </p:sp>
      <p:sp>
        <p:nvSpPr>
          <p:cNvPr id="26" name="Text 21"/>
          <p:cNvSpPr/>
          <p:nvPr/>
        </p:nvSpPr>
        <p:spPr>
          <a:xfrm>
            <a:off x="10260211" y="5270540"/>
            <a:ext cx="3608070" cy="238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450" dirty="0">
                <a:solidFill>
                  <a:srgbClr val="2A2A2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&amp; Discussion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709</Words>
  <Application>Microsoft Office PowerPoint</Application>
  <PresentationFormat>Custom</PresentationFormat>
  <Paragraphs>95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DM Sans</vt:lpstr>
      <vt:lpstr>Space Grotesk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sasi varun r</dc:creator>
  <cp:lastModifiedBy>sasi varun r</cp:lastModifiedBy>
  <cp:revision>2</cp:revision>
  <dcterms:created xsi:type="dcterms:W3CDTF">2026-02-26T22:41:44Z</dcterms:created>
  <dcterms:modified xsi:type="dcterms:W3CDTF">2026-02-26T22:46:26Z</dcterms:modified>
</cp:coreProperties>
</file>